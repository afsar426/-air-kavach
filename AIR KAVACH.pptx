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A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>
      <p:cViewPr varScale="1">
        <p:scale>
          <a:sx n="98" d="100"/>
          <a:sy n="98" d="100"/>
        </p:scale>
        <p:origin x="128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FD0A-36D7-4AC5-AD15-0E91725B960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CE9A-B1ED-413E-9875-5E4822BBF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71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CE9A-B1ED-413E-9875-5E4822BBF96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52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ECE9A-B1ED-413E-9875-5E4822BBF96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330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33028" y="1627500"/>
            <a:ext cx="199390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AGNITIA</a:t>
            </a:r>
            <a:r>
              <a:rPr spc="-25" dirty="0"/>
              <a:t> </a:t>
            </a:r>
            <a:r>
              <a:rPr dirty="0"/>
              <a:t>2026</a:t>
            </a:r>
            <a:r>
              <a:rPr spc="5" dirty="0"/>
              <a:t> </a:t>
            </a:r>
            <a:r>
              <a:rPr dirty="0"/>
              <a:t>| PIEMR,</a:t>
            </a:r>
            <a:r>
              <a:rPr spc="5" dirty="0"/>
              <a:t> </a:t>
            </a:r>
            <a:r>
              <a:rPr sz="900" spc="-10" dirty="0"/>
              <a:t>Indore</a:t>
            </a:r>
            <a:endParaRPr sz="9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‹#›</a:t>
            </a:fld>
            <a:endParaRPr sz="11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AGNITIA</a:t>
            </a:r>
            <a:r>
              <a:rPr spc="-25" dirty="0"/>
              <a:t> </a:t>
            </a:r>
            <a:r>
              <a:rPr dirty="0"/>
              <a:t>2026</a:t>
            </a:r>
            <a:r>
              <a:rPr spc="5" dirty="0"/>
              <a:t> </a:t>
            </a:r>
            <a:r>
              <a:rPr dirty="0"/>
              <a:t>| PIEMR,</a:t>
            </a:r>
            <a:r>
              <a:rPr spc="5" dirty="0"/>
              <a:t> </a:t>
            </a:r>
            <a:r>
              <a:rPr sz="900" spc="-10" dirty="0"/>
              <a:t>Indore</a:t>
            </a:r>
            <a:endParaRPr sz="9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‹#›</a:t>
            </a:fld>
            <a:endParaRPr sz="11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AGNITIA</a:t>
            </a:r>
            <a:r>
              <a:rPr spc="-25" dirty="0"/>
              <a:t> </a:t>
            </a:r>
            <a:r>
              <a:rPr dirty="0"/>
              <a:t>2026</a:t>
            </a:r>
            <a:r>
              <a:rPr spc="5" dirty="0"/>
              <a:t> </a:t>
            </a:r>
            <a:r>
              <a:rPr dirty="0"/>
              <a:t>| PIEMR,</a:t>
            </a:r>
            <a:r>
              <a:rPr spc="5" dirty="0"/>
              <a:t> </a:t>
            </a:r>
            <a:r>
              <a:rPr sz="900" spc="-10" dirty="0"/>
              <a:t>Indore</a:t>
            </a:r>
            <a:endParaRPr sz="9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‹#›</a:t>
            </a:fld>
            <a:endParaRPr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AGNITIA</a:t>
            </a:r>
            <a:r>
              <a:rPr spc="-25" dirty="0"/>
              <a:t> </a:t>
            </a:r>
            <a:r>
              <a:rPr dirty="0"/>
              <a:t>2026</a:t>
            </a:r>
            <a:r>
              <a:rPr spc="5" dirty="0"/>
              <a:t> </a:t>
            </a:r>
            <a:r>
              <a:rPr dirty="0"/>
              <a:t>| PIEMR,</a:t>
            </a:r>
            <a:r>
              <a:rPr spc="5" dirty="0"/>
              <a:t> </a:t>
            </a:r>
            <a:r>
              <a:rPr sz="900" spc="-10" dirty="0"/>
              <a:t>Indore</a:t>
            </a:r>
            <a:endParaRPr sz="9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‹#›</a:t>
            </a:fld>
            <a:endParaRPr sz="11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AGNITIA</a:t>
            </a:r>
            <a:r>
              <a:rPr spc="-25" dirty="0"/>
              <a:t> </a:t>
            </a:r>
            <a:r>
              <a:rPr dirty="0"/>
              <a:t>2026</a:t>
            </a:r>
            <a:r>
              <a:rPr spc="5" dirty="0"/>
              <a:t> </a:t>
            </a:r>
            <a:r>
              <a:rPr dirty="0"/>
              <a:t>| PIEMR,</a:t>
            </a:r>
            <a:r>
              <a:rPr spc="5" dirty="0"/>
              <a:t> </a:t>
            </a:r>
            <a:r>
              <a:rPr sz="900" spc="-10" dirty="0"/>
              <a:t>Indore</a:t>
            </a:r>
            <a:endParaRPr sz="9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‹#›</a:t>
            </a:fld>
            <a:endParaRPr sz="11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4913" y="1603739"/>
            <a:ext cx="8334173" cy="1071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310" y="4943156"/>
            <a:ext cx="138049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AGNITIA</a:t>
            </a:r>
            <a:r>
              <a:rPr spc="-25" dirty="0"/>
              <a:t> </a:t>
            </a:r>
            <a:r>
              <a:rPr dirty="0"/>
              <a:t>2026</a:t>
            </a:r>
            <a:r>
              <a:rPr spc="5" dirty="0"/>
              <a:t> </a:t>
            </a:r>
            <a:r>
              <a:rPr dirty="0"/>
              <a:t>| PIEMR,</a:t>
            </a:r>
            <a:r>
              <a:rPr spc="5" dirty="0"/>
              <a:t> </a:t>
            </a:r>
            <a:r>
              <a:rPr sz="900" spc="-10" dirty="0"/>
              <a:t>Indore</a:t>
            </a:r>
            <a:endParaRPr sz="9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31993" y="4943642"/>
            <a:ext cx="241935" cy="182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13" Type="http://schemas.openxmlformats.org/officeDocument/2006/relationships/image" Target="../media/image5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11" Type="http://schemas.openxmlformats.org/officeDocument/2006/relationships/image" Target="../media/image3.jpg"/><Relationship Id="rId5" Type="http://schemas.openxmlformats.org/officeDocument/2006/relationships/image" Target="../media/image12.png"/><Relationship Id="rId15" Type="http://schemas.openxmlformats.org/officeDocument/2006/relationships/image" Target="../media/image7.jpg"/><Relationship Id="rId10" Type="http://schemas.openxmlformats.org/officeDocument/2006/relationships/image" Target="../media/image2.jpg"/><Relationship Id="rId4" Type="http://schemas.openxmlformats.org/officeDocument/2006/relationships/image" Target="../media/image11.png"/><Relationship Id="rId9" Type="http://schemas.openxmlformats.org/officeDocument/2006/relationships/image" Target="../media/image1.png"/><Relationship Id="rId1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17.png"/><Relationship Id="rId4" Type="http://schemas.openxmlformats.org/officeDocument/2006/relationships/image" Target="../media/image3.jpg"/><Relationship Id="rId9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9.jpg"/><Relationship Id="rId7" Type="http://schemas.openxmlformats.org/officeDocument/2006/relationships/image" Target="../media/image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jpg"/><Relationship Id="rId11" Type="http://schemas.openxmlformats.org/officeDocument/2006/relationships/image" Target="../media/image16.jpeg"/><Relationship Id="rId5" Type="http://schemas.openxmlformats.org/officeDocument/2006/relationships/image" Target="../media/image1.png"/><Relationship Id="rId10" Type="http://schemas.openxmlformats.org/officeDocument/2006/relationships/image" Target="../media/image20.png"/><Relationship Id="rId4" Type="http://schemas.openxmlformats.org/officeDocument/2006/relationships/image" Target="../media/image5.jpg"/><Relationship Id="rId9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21.png"/><Relationship Id="rId4" Type="http://schemas.openxmlformats.org/officeDocument/2006/relationships/image" Target="../media/image3.jpg"/><Relationship Id="rId9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10" Type="http://schemas.openxmlformats.org/officeDocument/2006/relationships/image" Target="../media/image22.pn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24.png"/><Relationship Id="rId4" Type="http://schemas.openxmlformats.org/officeDocument/2006/relationships/image" Target="../media/image3.jp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10" Type="http://schemas.openxmlformats.org/officeDocument/2006/relationships/image" Target="../media/image16.jpe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25.png"/><Relationship Id="rId4" Type="http://schemas.openxmlformats.org/officeDocument/2006/relationships/image" Target="../media/image3.jpg"/><Relationship Id="rId9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28.png"/><Relationship Id="rId18" Type="http://schemas.openxmlformats.org/officeDocument/2006/relationships/image" Target="../media/image31.png"/><Relationship Id="rId26" Type="http://schemas.openxmlformats.org/officeDocument/2006/relationships/image" Target="../media/image35.png"/><Relationship Id="rId3" Type="http://schemas.openxmlformats.org/officeDocument/2006/relationships/image" Target="../media/image2.jpg"/><Relationship Id="rId21" Type="http://schemas.openxmlformats.org/officeDocument/2006/relationships/hyperlink" Target="https://fastapi.tiangolo.com/?utm_source=chatgpt.com" TargetMode="External"/><Relationship Id="rId7" Type="http://schemas.openxmlformats.org/officeDocument/2006/relationships/image" Target="../media/image6.jpg"/><Relationship Id="rId12" Type="http://schemas.openxmlformats.org/officeDocument/2006/relationships/hyperlink" Target="https://cds.climate.copernicus.eu/" TargetMode="External"/><Relationship Id="rId17" Type="http://schemas.openxmlformats.org/officeDocument/2006/relationships/hyperlink" Target="https://scikit-learn.org/stable/index.html" TargetMode="External"/><Relationship Id="rId25" Type="http://schemas.openxmlformats.org/officeDocument/2006/relationships/hyperlink" Target="https://leafletjs.com/reference.html" TargetMode="External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2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11" Type="http://schemas.openxmlformats.org/officeDocument/2006/relationships/image" Target="../media/image27.png"/><Relationship Id="rId24" Type="http://schemas.openxmlformats.org/officeDocument/2006/relationships/image" Target="../media/image34.png"/><Relationship Id="rId5" Type="http://schemas.openxmlformats.org/officeDocument/2006/relationships/image" Target="../media/image4.jpg"/><Relationship Id="rId15" Type="http://schemas.openxmlformats.org/officeDocument/2006/relationships/image" Target="../media/image29.png"/><Relationship Id="rId23" Type="http://schemas.openxmlformats.org/officeDocument/2006/relationships/hyperlink" Target="https://www.data.gov.in/catalog/real-time-air-quality-index?utm_source=chatgpt.com" TargetMode="External"/><Relationship Id="rId28" Type="http://schemas.openxmlformats.org/officeDocument/2006/relationships/image" Target="../media/image37.png"/><Relationship Id="rId10" Type="http://schemas.openxmlformats.org/officeDocument/2006/relationships/hyperlink" Target="https://docs.openaq.org/?utm_source=chatgpt.com" TargetMode="External"/><Relationship Id="rId19" Type="http://schemas.openxmlformats.org/officeDocument/2006/relationships/hyperlink" Target="https://geopandas.org/en/stable/docs.html" TargetMode="External"/><Relationship Id="rId4" Type="http://schemas.openxmlformats.org/officeDocument/2006/relationships/image" Target="../media/image3.jpg"/><Relationship Id="rId9" Type="http://schemas.openxmlformats.org/officeDocument/2006/relationships/image" Target="../media/image26.png"/><Relationship Id="rId14" Type="http://schemas.openxmlformats.org/officeDocument/2006/relationships/hyperlink" Target="https://www.openstreetmap.org/copyright?utm_source=chatgpt.com" TargetMode="External"/><Relationship Id="rId22" Type="http://schemas.openxmlformats.org/officeDocument/2006/relationships/image" Target="../media/image33.png"/><Relationship Id="rId27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5198" y="3717099"/>
            <a:ext cx="7918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20" dirty="0">
                <a:latin typeface="Palatino Linotype"/>
                <a:cs typeface="Palatino Linotype"/>
              </a:rPr>
              <a:t>Presented</a:t>
            </a:r>
            <a:r>
              <a:rPr sz="950" spc="285" dirty="0">
                <a:latin typeface="Palatino Linotype"/>
                <a:cs typeface="Palatino Linotype"/>
              </a:rPr>
              <a:t> </a:t>
            </a:r>
            <a:r>
              <a:rPr sz="950" spc="-25" dirty="0">
                <a:latin typeface="Palatino Linotype"/>
                <a:cs typeface="Palatino Linotype"/>
              </a:rPr>
              <a:t>by</a:t>
            </a:r>
            <a:endParaRPr sz="95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468" y="3921819"/>
            <a:ext cx="843724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dirty="0">
                <a:latin typeface="Times New Roman"/>
                <a:cs typeface="Times New Roman"/>
              </a:rPr>
              <a:t>Prestige</a:t>
            </a:r>
            <a:r>
              <a:rPr sz="1950" b="1" spc="55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Institute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of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Engineering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Management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and</a:t>
            </a:r>
            <a:r>
              <a:rPr sz="1950" b="1" spc="55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Research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(PIEMR),</a:t>
            </a:r>
            <a:r>
              <a:rPr sz="1950" b="1" spc="60" dirty="0">
                <a:latin typeface="Times New Roman"/>
                <a:cs typeface="Times New Roman"/>
              </a:rPr>
              <a:t> </a:t>
            </a:r>
            <a:r>
              <a:rPr sz="1950" b="1" spc="-10" dirty="0">
                <a:latin typeface="Times New Roman"/>
                <a:cs typeface="Times New Roman"/>
              </a:rPr>
              <a:t>Indore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6149" y="0"/>
            <a:ext cx="3282315" cy="802640"/>
            <a:chOff x="436149" y="0"/>
            <a:chExt cx="3282315" cy="8026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149" y="0"/>
              <a:ext cx="1325879" cy="802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185" y="12880"/>
              <a:ext cx="1280159" cy="7489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3375" y="12880"/>
              <a:ext cx="1054809" cy="58282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480464" y="209"/>
            <a:ext cx="2196465" cy="802640"/>
            <a:chOff x="6480464" y="209"/>
            <a:chExt cx="2196465" cy="80264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7387" y="57015"/>
              <a:ext cx="909071" cy="74523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80464" y="209"/>
              <a:ext cx="1280160" cy="583665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47991" y="27385"/>
            <a:ext cx="1270158" cy="55381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57795" y="185429"/>
            <a:ext cx="994408" cy="395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53728" y="1296107"/>
            <a:ext cx="6636541" cy="2035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00677" y="844055"/>
            <a:ext cx="1963420" cy="53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2600" spc="-45" dirty="0">
                <a:solidFill>
                  <a:srgbClr val="0A1628"/>
                </a:solidFill>
                <a:latin typeface="Cambria"/>
                <a:cs typeface="Cambria"/>
              </a:rPr>
              <a:t>Team</a:t>
            </a:r>
            <a:r>
              <a:rPr sz="2600" spc="-85" dirty="0">
                <a:solidFill>
                  <a:srgbClr val="0A1628"/>
                </a:solidFill>
                <a:latin typeface="Cambria"/>
                <a:cs typeface="Cambria"/>
              </a:rPr>
              <a:t> </a:t>
            </a:r>
            <a:r>
              <a:rPr sz="2600" spc="-10" dirty="0">
                <a:solidFill>
                  <a:srgbClr val="0A1628"/>
                </a:solidFill>
                <a:latin typeface="Cambria"/>
                <a:cs typeface="Cambria"/>
              </a:rPr>
              <a:t>Profile</a:t>
            </a:r>
            <a:endParaRPr sz="2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750" dirty="0">
                <a:solidFill>
                  <a:srgbClr val="1A398F"/>
                </a:solidFill>
                <a:latin typeface="Calibri"/>
                <a:cs typeface="Calibri"/>
              </a:rPr>
              <a:t>TRACK</a:t>
            </a:r>
            <a:r>
              <a:rPr sz="750" spc="130" dirty="0">
                <a:solidFill>
                  <a:srgbClr val="1A398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A398F"/>
                </a:solidFill>
                <a:latin typeface="Calibri"/>
                <a:cs typeface="Calibri"/>
              </a:rPr>
              <a:t>/</a:t>
            </a:r>
            <a:r>
              <a:rPr sz="750" spc="-20" dirty="0">
                <a:solidFill>
                  <a:srgbClr val="1A398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A398F"/>
                </a:solidFill>
                <a:latin typeface="Calibri"/>
                <a:cs typeface="Calibri"/>
              </a:rPr>
              <a:t>PROBLEM</a:t>
            </a:r>
            <a:r>
              <a:rPr sz="750" spc="-25" dirty="0">
                <a:solidFill>
                  <a:srgbClr val="1A398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A398F"/>
                </a:solidFill>
                <a:latin typeface="Calibri"/>
                <a:cs typeface="Calibri"/>
              </a:rPr>
              <a:t>STATEMENT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76633" y="1435444"/>
            <a:ext cx="5829300" cy="535305"/>
            <a:chOff x="3076633" y="1435444"/>
            <a:chExt cx="5829300" cy="5353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6633" y="1435444"/>
              <a:ext cx="5829300" cy="5349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24802" y="1483614"/>
              <a:ext cx="5715000" cy="421005"/>
            </a:xfrm>
            <a:custGeom>
              <a:avLst/>
              <a:gdLst/>
              <a:ahLst/>
              <a:cxnLst/>
              <a:rect l="l" t="t" r="r" b="b"/>
              <a:pathLst>
                <a:path w="5715000" h="421005">
                  <a:moveTo>
                    <a:pt x="5660137" y="420623"/>
                  </a:moveTo>
                  <a:lnTo>
                    <a:pt x="54861" y="420623"/>
                  </a:lnTo>
                  <a:lnTo>
                    <a:pt x="33507" y="416312"/>
                  </a:lnTo>
                  <a:lnTo>
                    <a:pt x="16068" y="404555"/>
                  </a:lnTo>
                  <a:lnTo>
                    <a:pt x="4311" y="387116"/>
                  </a:lnTo>
                  <a:lnTo>
                    <a:pt x="0" y="365761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5660137" y="0"/>
                  </a:lnTo>
                  <a:lnTo>
                    <a:pt x="5698931" y="16068"/>
                  </a:lnTo>
                  <a:lnTo>
                    <a:pt x="5714999" y="54861"/>
                  </a:lnTo>
                  <a:lnTo>
                    <a:pt x="5714999" y="365761"/>
                  </a:lnTo>
                  <a:lnTo>
                    <a:pt x="5710688" y="387116"/>
                  </a:lnTo>
                  <a:lnTo>
                    <a:pt x="5698931" y="404555"/>
                  </a:lnTo>
                  <a:lnTo>
                    <a:pt x="5681492" y="416312"/>
                  </a:lnTo>
                  <a:lnTo>
                    <a:pt x="5660137" y="4206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124802" y="1483614"/>
              <a:ext cx="5715000" cy="421005"/>
            </a:xfrm>
            <a:custGeom>
              <a:avLst/>
              <a:gdLst/>
              <a:ahLst/>
              <a:cxnLst/>
              <a:rect l="l" t="t" r="r" b="b"/>
              <a:pathLst>
                <a:path w="5715000" h="421005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5660137" y="0"/>
                  </a:lnTo>
                  <a:lnTo>
                    <a:pt x="5698931" y="16068"/>
                  </a:lnTo>
                  <a:lnTo>
                    <a:pt x="5714999" y="54861"/>
                  </a:lnTo>
                  <a:lnTo>
                    <a:pt x="5714999" y="365761"/>
                  </a:lnTo>
                  <a:lnTo>
                    <a:pt x="5710688" y="387116"/>
                  </a:lnTo>
                  <a:lnTo>
                    <a:pt x="5698931" y="404555"/>
                  </a:lnTo>
                  <a:lnTo>
                    <a:pt x="5681492" y="416312"/>
                  </a:lnTo>
                  <a:lnTo>
                    <a:pt x="5660137" y="420623"/>
                  </a:lnTo>
                  <a:lnTo>
                    <a:pt x="54861" y="420623"/>
                  </a:lnTo>
                  <a:lnTo>
                    <a:pt x="33507" y="416312"/>
                  </a:lnTo>
                  <a:lnTo>
                    <a:pt x="16068" y="404555"/>
                  </a:lnTo>
                  <a:lnTo>
                    <a:pt x="4311" y="387116"/>
                  </a:lnTo>
                  <a:lnTo>
                    <a:pt x="0" y="365761"/>
                  </a:lnTo>
                  <a:lnTo>
                    <a:pt x="0" y="54861"/>
                  </a:lnTo>
                  <a:close/>
                </a:path>
              </a:pathLst>
            </a:custGeom>
            <a:ln w="1269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0538" y="1490472"/>
              <a:ext cx="256031" cy="25603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603597" y="1528572"/>
            <a:ext cx="5028396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950" b="1" dirty="0">
                <a:latin typeface="+mj-lt"/>
                <a:cs typeface="Calibri"/>
              </a:rPr>
              <a:t>TERRA02 - </a:t>
            </a:r>
            <a:r>
              <a:rPr lang="fr-FR" sz="950" b="1" dirty="0">
                <a:latin typeface="+mj-lt"/>
                <a:cs typeface="Calibri"/>
              </a:rPr>
              <a:t>Industrial Pollution Source Attribution Engine</a:t>
            </a:r>
            <a:endParaRPr sz="950" dirty="0">
              <a:latin typeface="+mj-lt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00677" y="1992883"/>
            <a:ext cx="53022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A398F"/>
                </a:solidFill>
                <a:latin typeface="Calibri"/>
                <a:cs typeface="Calibri"/>
              </a:rPr>
              <a:t>TEAM</a:t>
            </a:r>
            <a:r>
              <a:rPr sz="750" b="1" spc="-30" dirty="0">
                <a:solidFill>
                  <a:srgbClr val="1A398F"/>
                </a:solidFill>
                <a:latin typeface="Calibri"/>
                <a:cs typeface="Calibri"/>
              </a:rPr>
              <a:t> </a:t>
            </a:r>
            <a:r>
              <a:rPr sz="750" b="1" spc="-20" dirty="0">
                <a:solidFill>
                  <a:srgbClr val="1A398F"/>
                </a:solidFill>
                <a:latin typeface="Calibri"/>
                <a:cs typeface="Calibri"/>
              </a:rPr>
              <a:t>NAME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65208" y="2128102"/>
            <a:ext cx="5829300" cy="535305"/>
            <a:chOff x="3065208" y="2128102"/>
            <a:chExt cx="5829300" cy="53530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5208" y="2128102"/>
              <a:ext cx="5829300" cy="53492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13377" y="2176271"/>
              <a:ext cx="5715000" cy="421005"/>
            </a:xfrm>
            <a:custGeom>
              <a:avLst/>
              <a:gdLst/>
              <a:ahLst/>
              <a:cxnLst/>
              <a:rect l="l" t="t" r="r" b="b"/>
              <a:pathLst>
                <a:path w="5715000" h="421005">
                  <a:moveTo>
                    <a:pt x="5660137" y="420623"/>
                  </a:moveTo>
                  <a:lnTo>
                    <a:pt x="54861" y="420623"/>
                  </a:lnTo>
                  <a:lnTo>
                    <a:pt x="33507" y="416312"/>
                  </a:lnTo>
                  <a:lnTo>
                    <a:pt x="16068" y="404555"/>
                  </a:lnTo>
                  <a:lnTo>
                    <a:pt x="4311" y="387116"/>
                  </a:lnTo>
                  <a:lnTo>
                    <a:pt x="0" y="365761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5660137" y="0"/>
                  </a:lnTo>
                  <a:lnTo>
                    <a:pt x="5698931" y="16068"/>
                  </a:lnTo>
                  <a:lnTo>
                    <a:pt x="5714999" y="54861"/>
                  </a:lnTo>
                  <a:lnTo>
                    <a:pt x="5714999" y="365761"/>
                  </a:lnTo>
                  <a:lnTo>
                    <a:pt x="5710688" y="387116"/>
                  </a:lnTo>
                  <a:lnTo>
                    <a:pt x="5698931" y="404555"/>
                  </a:lnTo>
                  <a:lnTo>
                    <a:pt x="5681492" y="416312"/>
                  </a:lnTo>
                  <a:lnTo>
                    <a:pt x="5660137" y="4206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113377" y="2176271"/>
              <a:ext cx="5715000" cy="421005"/>
            </a:xfrm>
            <a:custGeom>
              <a:avLst/>
              <a:gdLst/>
              <a:ahLst/>
              <a:cxnLst/>
              <a:rect l="l" t="t" r="r" b="b"/>
              <a:pathLst>
                <a:path w="5715000" h="421005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5660137" y="0"/>
                  </a:lnTo>
                  <a:lnTo>
                    <a:pt x="5698931" y="16068"/>
                  </a:lnTo>
                  <a:lnTo>
                    <a:pt x="5714999" y="54861"/>
                  </a:lnTo>
                  <a:lnTo>
                    <a:pt x="5714999" y="365761"/>
                  </a:lnTo>
                  <a:lnTo>
                    <a:pt x="5710688" y="387116"/>
                  </a:lnTo>
                  <a:lnTo>
                    <a:pt x="5698931" y="404555"/>
                  </a:lnTo>
                  <a:lnTo>
                    <a:pt x="5681492" y="416312"/>
                  </a:lnTo>
                  <a:lnTo>
                    <a:pt x="5660137" y="420623"/>
                  </a:lnTo>
                  <a:lnTo>
                    <a:pt x="54861" y="420623"/>
                  </a:lnTo>
                  <a:lnTo>
                    <a:pt x="33507" y="416312"/>
                  </a:lnTo>
                  <a:lnTo>
                    <a:pt x="16068" y="404555"/>
                  </a:lnTo>
                  <a:lnTo>
                    <a:pt x="4311" y="387116"/>
                  </a:lnTo>
                  <a:lnTo>
                    <a:pt x="0" y="365761"/>
                  </a:lnTo>
                  <a:lnTo>
                    <a:pt x="0" y="54861"/>
                  </a:lnTo>
                  <a:close/>
                </a:path>
              </a:pathLst>
            </a:custGeom>
            <a:ln w="1269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0538" y="2240280"/>
              <a:ext cx="256031" cy="25603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603597" y="2278380"/>
            <a:ext cx="868044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950" i="1" dirty="0">
                <a:solidFill>
                  <a:schemeClr val="tx1"/>
                </a:solidFill>
                <a:latin typeface="Calibri"/>
                <a:cs typeface="Calibri"/>
              </a:rPr>
              <a:t>DeveloperX</a:t>
            </a:r>
            <a:r>
              <a:rPr lang="en-IN" sz="950" i="1" dirty="0">
                <a:solidFill>
                  <a:srgbClr val="94A3B8"/>
                </a:solidFill>
                <a:latin typeface="Calibri"/>
                <a:cs typeface="Calibri"/>
              </a:rPr>
              <a:t> 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65208" y="2877910"/>
            <a:ext cx="5829300" cy="535305"/>
            <a:chOff x="3065208" y="2877910"/>
            <a:chExt cx="5829300" cy="53530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5208" y="2877910"/>
              <a:ext cx="5829300" cy="53492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13377" y="2926079"/>
              <a:ext cx="5715000" cy="421005"/>
            </a:xfrm>
            <a:custGeom>
              <a:avLst/>
              <a:gdLst/>
              <a:ahLst/>
              <a:cxnLst/>
              <a:rect l="l" t="t" r="r" b="b"/>
              <a:pathLst>
                <a:path w="5715000" h="421004">
                  <a:moveTo>
                    <a:pt x="5660137" y="420623"/>
                  </a:moveTo>
                  <a:lnTo>
                    <a:pt x="54861" y="420623"/>
                  </a:lnTo>
                  <a:lnTo>
                    <a:pt x="33507" y="416312"/>
                  </a:lnTo>
                  <a:lnTo>
                    <a:pt x="16068" y="404555"/>
                  </a:lnTo>
                  <a:lnTo>
                    <a:pt x="4311" y="387116"/>
                  </a:lnTo>
                  <a:lnTo>
                    <a:pt x="0" y="365762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5660137" y="0"/>
                  </a:lnTo>
                  <a:lnTo>
                    <a:pt x="5698931" y="16068"/>
                  </a:lnTo>
                  <a:lnTo>
                    <a:pt x="5714999" y="54861"/>
                  </a:lnTo>
                  <a:lnTo>
                    <a:pt x="5714999" y="365762"/>
                  </a:lnTo>
                  <a:lnTo>
                    <a:pt x="5710688" y="387116"/>
                  </a:lnTo>
                  <a:lnTo>
                    <a:pt x="5698931" y="404555"/>
                  </a:lnTo>
                  <a:lnTo>
                    <a:pt x="5681492" y="416312"/>
                  </a:lnTo>
                  <a:lnTo>
                    <a:pt x="5660137" y="4206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13377" y="2926079"/>
              <a:ext cx="5715000" cy="421005"/>
            </a:xfrm>
            <a:custGeom>
              <a:avLst/>
              <a:gdLst/>
              <a:ahLst/>
              <a:cxnLst/>
              <a:rect l="l" t="t" r="r" b="b"/>
              <a:pathLst>
                <a:path w="5715000" h="4210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5660137" y="0"/>
                  </a:lnTo>
                  <a:lnTo>
                    <a:pt x="5698931" y="16068"/>
                  </a:lnTo>
                  <a:lnTo>
                    <a:pt x="5714999" y="54861"/>
                  </a:lnTo>
                  <a:lnTo>
                    <a:pt x="5714999" y="365762"/>
                  </a:lnTo>
                  <a:lnTo>
                    <a:pt x="5710688" y="387116"/>
                  </a:lnTo>
                  <a:lnTo>
                    <a:pt x="5698931" y="404555"/>
                  </a:lnTo>
                  <a:lnTo>
                    <a:pt x="5681492" y="416312"/>
                  </a:lnTo>
                  <a:lnTo>
                    <a:pt x="5660137" y="420623"/>
                  </a:lnTo>
                  <a:lnTo>
                    <a:pt x="54861" y="420623"/>
                  </a:lnTo>
                  <a:lnTo>
                    <a:pt x="33507" y="416312"/>
                  </a:lnTo>
                  <a:lnTo>
                    <a:pt x="16068" y="404555"/>
                  </a:lnTo>
                  <a:lnTo>
                    <a:pt x="4311" y="387116"/>
                  </a:lnTo>
                  <a:lnTo>
                    <a:pt x="0" y="365762"/>
                  </a:lnTo>
                  <a:lnTo>
                    <a:pt x="0" y="54861"/>
                  </a:lnTo>
                  <a:close/>
                </a:path>
              </a:pathLst>
            </a:custGeom>
            <a:ln w="1269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100677" y="2742692"/>
            <a:ext cx="1706245" cy="455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A398F"/>
                </a:solidFill>
                <a:latin typeface="Calibri"/>
                <a:cs typeface="Calibri"/>
              </a:rPr>
              <a:t>TEAM</a:t>
            </a:r>
            <a:r>
              <a:rPr sz="750" b="1" spc="-35" dirty="0">
                <a:solidFill>
                  <a:srgbClr val="1A398F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1A398F"/>
                </a:solidFill>
                <a:latin typeface="Calibri"/>
                <a:cs typeface="Calibri"/>
              </a:rPr>
              <a:t>LEADER'S</a:t>
            </a:r>
            <a:r>
              <a:rPr sz="750" b="1" spc="-35" dirty="0">
                <a:solidFill>
                  <a:srgbClr val="1A398F"/>
                </a:solidFill>
                <a:latin typeface="Calibri"/>
                <a:cs typeface="Calibri"/>
              </a:rPr>
              <a:t> </a:t>
            </a:r>
            <a:r>
              <a:rPr sz="750" b="1" spc="-20" dirty="0">
                <a:solidFill>
                  <a:srgbClr val="1A398F"/>
                </a:solidFill>
                <a:latin typeface="Calibri"/>
                <a:cs typeface="Calibri"/>
              </a:rPr>
              <a:t>NAME</a:t>
            </a:r>
            <a:endParaRPr sz="7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750" dirty="0">
              <a:latin typeface="Calibri"/>
              <a:cs typeface="Calibri"/>
            </a:endParaRPr>
          </a:p>
          <a:p>
            <a:pPr marL="514984">
              <a:lnSpc>
                <a:spcPct val="100000"/>
              </a:lnSpc>
            </a:pPr>
            <a:r>
              <a:rPr lang="en-IN" sz="950" i="1" dirty="0">
                <a:solidFill>
                  <a:schemeClr val="tx1"/>
                </a:solidFill>
                <a:latin typeface="Calibri"/>
                <a:cs typeface="Calibri"/>
              </a:rPr>
              <a:t>Afsar Azam</a:t>
            </a:r>
            <a:endParaRPr sz="95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00677" y="3492500"/>
            <a:ext cx="66675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A398F"/>
                </a:solidFill>
                <a:latin typeface="Calibri"/>
                <a:cs typeface="Calibri"/>
              </a:rPr>
              <a:t>EMAIL</a:t>
            </a:r>
            <a:r>
              <a:rPr sz="750" b="1" spc="-25" dirty="0">
                <a:solidFill>
                  <a:srgbClr val="1A398F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1A398F"/>
                </a:solidFill>
                <a:latin typeface="Calibri"/>
                <a:cs typeface="Calibri"/>
              </a:rPr>
              <a:t>ADDRESS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65208" y="3627718"/>
            <a:ext cx="5829300" cy="535305"/>
            <a:chOff x="3065208" y="3627718"/>
            <a:chExt cx="5829300" cy="53530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5208" y="3627718"/>
              <a:ext cx="5829300" cy="53492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113377" y="3675888"/>
              <a:ext cx="5715000" cy="421005"/>
            </a:xfrm>
            <a:custGeom>
              <a:avLst/>
              <a:gdLst/>
              <a:ahLst/>
              <a:cxnLst/>
              <a:rect l="l" t="t" r="r" b="b"/>
              <a:pathLst>
                <a:path w="5715000" h="421004">
                  <a:moveTo>
                    <a:pt x="5660137" y="420623"/>
                  </a:moveTo>
                  <a:lnTo>
                    <a:pt x="54861" y="420623"/>
                  </a:lnTo>
                  <a:lnTo>
                    <a:pt x="33507" y="416312"/>
                  </a:lnTo>
                  <a:lnTo>
                    <a:pt x="16068" y="404555"/>
                  </a:lnTo>
                  <a:lnTo>
                    <a:pt x="4311" y="387116"/>
                  </a:lnTo>
                  <a:lnTo>
                    <a:pt x="0" y="365761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5660137" y="0"/>
                  </a:lnTo>
                  <a:lnTo>
                    <a:pt x="5698931" y="16068"/>
                  </a:lnTo>
                  <a:lnTo>
                    <a:pt x="5714999" y="54861"/>
                  </a:lnTo>
                  <a:lnTo>
                    <a:pt x="5714999" y="365761"/>
                  </a:lnTo>
                  <a:lnTo>
                    <a:pt x="5710688" y="387116"/>
                  </a:lnTo>
                  <a:lnTo>
                    <a:pt x="5698931" y="404555"/>
                  </a:lnTo>
                  <a:lnTo>
                    <a:pt x="5681492" y="416312"/>
                  </a:lnTo>
                  <a:lnTo>
                    <a:pt x="5660137" y="4206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13377" y="3675888"/>
              <a:ext cx="5715000" cy="421005"/>
            </a:xfrm>
            <a:custGeom>
              <a:avLst/>
              <a:gdLst/>
              <a:ahLst/>
              <a:cxnLst/>
              <a:rect l="l" t="t" r="r" b="b"/>
              <a:pathLst>
                <a:path w="5715000" h="4210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5660137" y="0"/>
                  </a:lnTo>
                  <a:lnTo>
                    <a:pt x="5698931" y="16068"/>
                  </a:lnTo>
                  <a:lnTo>
                    <a:pt x="5714999" y="54861"/>
                  </a:lnTo>
                  <a:lnTo>
                    <a:pt x="5714999" y="365761"/>
                  </a:lnTo>
                  <a:lnTo>
                    <a:pt x="5710688" y="387116"/>
                  </a:lnTo>
                  <a:lnTo>
                    <a:pt x="5698931" y="404555"/>
                  </a:lnTo>
                  <a:lnTo>
                    <a:pt x="5681492" y="416312"/>
                  </a:lnTo>
                  <a:lnTo>
                    <a:pt x="5660137" y="420623"/>
                  </a:lnTo>
                  <a:lnTo>
                    <a:pt x="54861" y="420623"/>
                  </a:lnTo>
                  <a:lnTo>
                    <a:pt x="33507" y="416312"/>
                  </a:lnTo>
                  <a:lnTo>
                    <a:pt x="16068" y="404555"/>
                  </a:lnTo>
                  <a:lnTo>
                    <a:pt x="4311" y="387116"/>
                  </a:lnTo>
                  <a:lnTo>
                    <a:pt x="0" y="365761"/>
                  </a:lnTo>
                  <a:lnTo>
                    <a:pt x="0" y="54861"/>
                  </a:lnTo>
                  <a:close/>
                </a:path>
              </a:pathLst>
            </a:custGeom>
            <a:ln w="1269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0538" y="3739896"/>
              <a:ext cx="256031" cy="256031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603597" y="3777996"/>
            <a:ext cx="1709420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950" dirty="0">
                <a:latin typeface="Calibri"/>
                <a:cs typeface="Calibri"/>
              </a:rPr>
              <a:t>afsarazam404@gmail.com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078741" y="4425282"/>
            <a:ext cx="5827192" cy="532789"/>
            <a:chOff x="3065208" y="4377526"/>
            <a:chExt cx="5829300" cy="53530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5208" y="4377526"/>
              <a:ext cx="5829300" cy="53492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113377" y="4425695"/>
              <a:ext cx="5715000" cy="421005"/>
            </a:xfrm>
            <a:custGeom>
              <a:avLst/>
              <a:gdLst/>
              <a:ahLst/>
              <a:cxnLst/>
              <a:rect l="l" t="t" r="r" b="b"/>
              <a:pathLst>
                <a:path w="5715000" h="421004">
                  <a:moveTo>
                    <a:pt x="5660137" y="420623"/>
                  </a:moveTo>
                  <a:lnTo>
                    <a:pt x="54861" y="420623"/>
                  </a:lnTo>
                  <a:lnTo>
                    <a:pt x="33507" y="416312"/>
                  </a:lnTo>
                  <a:lnTo>
                    <a:pt x="16068" y="404555"/>
                  </a:lnTo>
                  <a:lnTo>
                    <a:pt x="4311" y="387116"/>
                  </a:lnTo>
                  <a:lnTo>
                    <a:pt x="0" y="365762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5660137" y="0"/>
                  </a:lnTo>
                  <a:lnTo>
                    <a:pt x="5698931" y="16068"/>
                  </a:lnTo>
                  <a:lnTo>
                    <a:pt x="5714999" y="54861"/>
                  </a:lnTo>
                  <a:lnTo>
                    <a:pt x="5714999" y="365762"/>
                  </a:lnTo>
                  <a:lnTo>
                    <a:pt x="5710688" y="387116"/>
                  </a:lnTo>
                  <a:lnTo>
                    <a:pt x="5698931" y="404555"/>
                  </a:lnTo>
                  <a:lnTo>
                    <a:pt x="5681492" y="416312"/>
                  </a:lnTo>
                  <a:lnTo>
                    <a:pt x="5660137" y="4206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13377" y="4425695"/>
              <a:ext cx="5715000" cy="421005"/>
            </a:xfrm>
            <a:custGeom>
              <a:avLst/>
              <a:gdLst/>
              <a:ahLst/>
              <a:cxnLst/>
              <a:rect l="l" t="t" r="r" b="b"/>
              <a:pathLst>
                <a:path w="5715000" h="4210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5660137" y="0"/>
                  </a:lnTo>
                  <a:lnTo>
                    <a:pt x="5698931" y="16068"/>
                  </a:lnTo>
                  <a:lnTo>
                    <a:pt x="5714999" y="54861"/>
                  </a:lnTo>
                  <a:lnTo>
                    <a:pt x="5714999" y="365762"/>
                  </a:lnTo>
                  <a:lnTo>
                    <a:pt x="5710688" y="387116"/>
                  </a:lnTo>
                  <a:lnTo>
                    <a:pt x="5698931" y="404555"/>
                  </a:lnTo>
                  <a:lnTo>
                    <a:pt x="5681492" y="416312"/>
                  </a:lnTo>
                  <a:lnTo>
                    <a:pt x="5660137" y="420623"/>
                  </a:lnTo>
                  <a:lnTo>
                    <a:pt x="54861" y="420623"/>
                  </a:lnTo>
                  <a:lnTo>
                    <a:pt x="33507" y="416312"/>
                  </a:lnTo>
                  <a:lnTo>
                    <a:pt x="16068" y="404555"/>
                  </a:lnTo>
                  <a:lnTo>
                    <a:pt x="4311" y="387116"/>
                  </a:lnTo>
                  <a:lnTo>
                    <a:pt x="0" y="365762"/>
                  </a:lnTo>
                  <a:lnTo>
                    <a:pt x="0" y="54861"/>
                  </a:lnTo>
                  <a:close/>
                </a:path>
              </a:pathLst>
            </a:custGeom>
            <a:ln w="1269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0538" y="4489704"/>
              <a:ext cx="256031" cy="256031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3124802" y="4162497"/>
            <a:ext cx="4900324" cy="733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1A398F"/>
                </a:solidFill>
                <a:latin typeface="Calibri"/>
                <a:cs typeface="Calibri"/>
              </a:rPr>
              <a:t>TEAM</a:t>
            </a:r>
            <a:r>
              <a:rPr sz="750" b="1" spc="-30" dirty="0">
                <a:solidFill>
                  <a:srgbClr val="1A398F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1A398F"/>
                </a:solidFill>
                <a:latin typeface="Calibri"/>
                <a:cs typeface="Calibri"/>
              </a:rPr>
              <a:t>MEMBERS</a:t>
            </a:r>
            <a:endParaRPr sz="7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750" dirty="0">
              <a:latin typeface="Calibri"/>
              <a:cs typeface="Calibri"/>
            </a:endParaRPr>
          </a:p>
          <a:p>
            <a:pPr marL="514984">
              <a:lnSpc>
                <a:spcPct val="100000"/>
              </a:lnSpc>
            </a:pPr>
            <a:r>
              <a:rPr lang="en-IN" sz="950" i="1" dirty="0">
                <a:solidFill>
                  <a:schemeClr val="tx1"/>
                </a:solidFill>
                <a:latin typeface="Calibri"/>
                <a:cs typeface="Calibri"/>
              </a:rPr>
              <a:t>Afsar Azam –   Model Integration &amp; Frontend &amp; Backend</a:t>
            </a:r>
          </a:p>
          <a:p>
            <a:pPr marL="514984">
              <a:lnSpc>
                <a:spcPct val="100000"/>
              </a:lnSpc>
            </a:pPr>
            <a:r>
              <a:rPr lang="en-IN" sz="950" i="1" dirty="0">
                <a:solidFill>
                  <a:schemeClr val="tx1"/>
                </a:solidFill>
                <a:latin typeface="Calibri"/>
                <a:cs typeface="Calibri"/>
              </a:rPr>
              <a:t>Lalita Jhapate –  Preprocessing &amp; Model Training </a:t>
            </a:r>
          </a:p>
          <a:p>
            <a:pPr marL="514984">
              <a:lnSpc>
                <a:spcPct val="100000"/>
              </a:lnSpc>
            </a:pPr>
            <a:r>
              <a:rPr lang="en-IN" sz="950" i="1" dirty="0">
                <a:solidFill>
                  <a:schemeClr val="tx1"/>
                </a:solidFill>
                <a:latin typeface="Calibri"/>
                <a:cs typeface="Calibri"/>
              </a:rPr>
              <a:t>Ayush Singh -  Deployment &amp; Documentation </a:t>
            </a:r>
            <a:endParaRPr sz="95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27914" y="1097292"/>
            <a:ext cx="873760" cy="873760"/>
            <a:chOff x="327914" y="1097292"/>
            <a:chExt cx="873760" cy="873760"/>
          </a:xfrm>
        </p:grpSpPr>
        <p:pic>
          <p:nvPicPr>
            <p:cNvPr id="35" name="object 35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80967" y="1112103"/>
              <a:ext cx="767081" cy="84352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27914" y="1097292"/>
              <a:ext cx="873760" cy="873760"/>
            </a:xfrm>
            <a:custGeom>
              <a:avLst/>
              <a:gdLst/>
              <a:ahLst/>
              <a:cxnLst/>
              <a:rect l="l" t="t" r="r" b="b"/>
              <a:pathLst>
                <a:path w="873760" h="873760">
                  <a:moveTo>
                    <a:pt x="873175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871220"/>
                  </a:lnTo>
                  <a:lnTo>
                    <a:pt x="0" y="873760"/>
                  </a:lnTo>
                  <a:lnTo>
                    <a:pt x="873175" y="873760"/>
                  </a:lnTo>
                  <a:lnTo>
                    <a:pt x="873175" y="871270"/>
                  </a:lnTo>
                  <a:lnTo>
                    <a:pt x="873175" y="1892"/>
                  </a:lnTo>
                  <a:lnTo>
                    <a:pt x="871283" y="1892"/>
                  </a:lnTo>
                  <a:lnTo>
                    <a:pt x="871283" y="871220"/>
                  </a:lnTo>
                  <a:lnTo>
                    <a:pt x="1892" y="871220"/>
                  </a:lnTo>
                  <a:lnTo>
                    <a:pt x="1892" y="1270"/>
                  </a:lnTo>
                  <a:lnTo>
                    <a:pt x="873175" y="1270"/>
                  </a:lnTo>
                  <a:lnTo>
                    <a:pt x="8731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7" name="object 37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6405" y="1128176"/>
            <a:ext cx="698001" cy="81137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7715" y="2642633"/>
            <a:ext cx="900168" cy="783897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334429" y="2027400"/>
            <a:ext cx="12528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35" dirty="0">
                <a:latin typeface="Arial"/>
                <a:cs typeface="Arial"/>
              </a:rPr>
              <a:t>Ashar Azam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47822" y="1987722"/>
            <a:ext cx="12528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35" dirty="0">
                <a:latin typeface="Arial"/>
                <a:cs typeface="Arial"/>
              </a:rPr>
              <a:t>Lalita Jhapate</a:t>
            </a:r>
            <a:r>
              <a:rPr sz="1200" b="1" spc="-35" dirty="0">
                <a:latin typeface="Arial"/>
                <a:cs typeface="Arial"/>
              </a:rPr>
              <a:t> 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6405" y="3485278"/>
            <a:ext cx="12528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35" dirty="0">
                <a:latin typeface="Arial"/>
                <a:cs typeface="Arial"/>
              </a:rPr>
              <a:t>Ayush Singh</a:t>
            </a:r>
            <a:r>
              <a:rPr sz="1200" b="1" spc="-35" dirty="0">
                <a:latin typeface="Arial"/>
                <a:cs typeface="Arial"/>
              </a:rPr>
              <a:t> 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36149" y="0"/>
            <a:ext cx="3282315" cy="802640"/>
            <a:chOff x="436149" y="0"/>
            <a:chExt cx="3282315" cy="802640"/>
          </a:xfrm>
        </p:grpSpPr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6149" y="0"/>
              <a:ext cx="1325879" cy="80224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38185" y="12880"/>
              <a:ext cx="1280159" cy="74898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83375" y="12880"/>
              <a:ext cx="1054809" cy="582827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6480464" y="209"/>
            <a:ext cx="2196465" cy="802640"/>
            <a:chOff x="6480464" y="209"/>
            <a:chExt cx="2196465" cy="802640"/>
          </a:xfrm>
        </p:grpSpPr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67387" y="57015"/>
              <a:ext cx="909071" cy="74523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80464" y="209"/>
              <a:ext cx="1280160" cy="583665"/>
            </a:xfrm>
            <a:prstGeom prst="rect">
              <a:avLst/>
            </a:prstGeom>
          </p:spPr>
        </p:pic>
      </p:grpSp>
      <p:pic>
        <p:nvPicPr>
          <p:cNvPr id="51" name="object 5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47991" y="27385"/>
            <a:ext cx="1270158" cy="553818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257795" y="185429"/>
            <a:ext cx="994408" cy="395774"/>
          </a:xfrm>
          <a:prstGeom prst="rect">
            <a:avLst/>
          </a:prstGeom>
        </p:spPr>
      </p:pic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2</a:t>
            </a:fld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081" y="865316"/>
            <a:ext cx="804491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IN" sz="1600" dirty="0"/>
              <a:t>Problem</a:t>
            </a:r>
            <a:r>
              <a:rPr lang="en-IN" sz="1600" spc="-210" dirty="0"/>
              <a:t> </a:t>
            </a:r>
            <a:r>
              <a:rPr lang="en-IN" sz="1600" spc="-10" dirty="0"/>
              <a:t>Statement -</a:t>
            </a:r>
            <a:r>
              <a:rPr lang="en-US" sz="1600" spc="-10" dirty="0"/>
              <a:t> Air-quality sensors detect pollution, but identifying the industrial sources responsible is difficult because pollution movement depends on wind, weather, location and time.</a:t>
            </a:r>
            <a:endParaRPr sz="1400"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36149" y="0"/>
            <a:ext cx="3282315" cy="802640"/>
            <a:chOff x="436149" y="0"/>
            <a:chExt cx="3282315" cy="802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149" y="0"/>
              <a:ext cx="1325879" cy="802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185" y="12880"/>
              <a:ext cx="1280159" cy="7489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3375" y="12880"/>
              <a:ext cx="1054809" cy="58282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480464" y="209"/>
            <a:ext cx="2196465" cy="802640"/>
            <a:chOff x="6480464" y="209"/>
            <a:chExt cx="2196465" cy="8026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7387" y="57015"/>
              <a:ext cx="909071" cy="745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80464" y="209"/>
              <a:ext cx="1280160" cy="58366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47991" y="27385"/>
            <a:ext cx="1270158" cy="553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57795" y="185429"/>
            <a:ext cx="994408" cy="39577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3</a:t>
            </a:fld>
            <a:endParaRPr sz="11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EFA174C-2440-451E-2FE6-61F1559687AE}"/>
              </a:ext>
            </a:extLst>
          </p:cNvPr>
          <p:cNvSpPr/>
          <p:nvPr/>
        </p:nvSpPr>
        <p:spPr>
          <a:xfrm>
            <a:off x="317703" y="1690558"/>
            <a:ext cx="3873298" cy="3014792"/>
          </a:xfrm>
          <a:prstGeom prst="roundRect">
            <a:avLst/>
          </a:prstGeom>
          <a:blipFill>
            <a:blip r:embed="rId9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Pollution Detected. Source Unknown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Unidentified Sources: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Sensors detect pollution but cannot pinpoint the responsible factory.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Scattered Data: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Air quality, wind, and factory data are disconnected.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Slow Investigation: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Finding likely sources requires time and analysis.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Uncertain Evidence: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Lack of clear evidence makes attribution difficult</a:t>
            </a:r>
            <a:r>
              <a:rPr lang="en-IN" sz="1600" dirty="0"/>
              <a:t>.</a:t>
            </a:r>
          </a:p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D7F4F9-80A8-0E32-4C3A-A466E1166E9E}"/>
              </a:ext>
            </a:extLst>
          </p:cNvPr>
          <p:cNvSpPr txBox="1"/>
          <p:nvPr/>
        </p:nvSpPr>
        <p:spPr>
          <a:xfrm>
            <a:off x="223730" y="4824875"/>
            <a:ext cx="8518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Key Challenge:</a:t>
            </a:r>
            <a:r>
              <a:rPr lang="en-IN" sz="1400" dirty="0"/>
              <a:t> </a:t>
            </a:r>
            <a:r>
              <a:rPr lang="en-IN" sz="1400" b="1" dirty="0"/>
              <a:t>Which factories are the likely sources of pollution, and what evidence supports it?</a:t>
            </a:r>
          </a:p>
          <a:p>
            <a:endParaRPr lang="en-IN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46F2F59-3E80-E80C-8C8F-8BF4CC8496D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344" y="1646076"/>
            <a:ext cx="5856503" cy="29305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9252" y="794126"/>
            <a:ext cx="8334173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860" algn="ctr">
              <a:spcBef>
                <a:spcPts val="100"/>
              </a:spcBef>
            </a:pPr>
            <a:r>
              <a:rPr sz="2400" spc="-10" dirty="0"/>
              <a:t>Solution</a:t>
            </a:r>
            <a:r>
              <a:rPr sz="2400" spc="-155" dirty="0"/>
              <a:t> </a:t>
            </a:r>
            <a:r>
              <a:rPr sz="2400" spc="-10" dirty="0"/>
              <a:t>Approach</a:t>
            </a:r>
            <a:r>
              <a:rPr lang="en-IN" sz="2400" spc="-10" dirty="0"/>
              <a:t> </a:t>
            </a:r>
            <a:r>
              <a:rPr lang="en-IN" sz="2500" spc="-10" dirty="0"/>
              <a:t>– </a:t>
            </a:r>
            <a:r>
              <a:rPr lang="en-US" sz="1800" spc="-10" dirty="0"/>
              <a:t>AIR KAVACH -</a:t>
            </a:r>
            <a:r>
              <a:rPr lang="en-IN" sz="1800" dirty="0"/>
              <a:t> From Pollution Detection to Explainable Source Attribution</a:t>
            </a:r>
            <a:br>
              <a:rPr lang="en-IN" sz="1800" dirty="0"/>
            </a:br>
            <a:endParaRPr sz="1800" b="0"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6480464" y="0"/>
            <a:ext cx="2663825" cy="1372870"/>
            <a:chOff x="6480464" y="0"/>
            <a:chExt cx="2663825" cy="1372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8872" y="0"/>
              <a:ext cx="1195127" cy="13725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4235" y="31493"/>
              <a:ext cx="1411453" cy="770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0464" y="209"/>
              <a:ext cx="1280160" cy="58366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436149" y="0"/>
            <a:ext cx="3282315" cy="802640"/>
            <a:chOff x="436149" y="0"/>
            <a:chExt cx="3282315" cy="8026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149" y="0"/>
              <a:ext cx="1325879" cy="802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38185" y="12880"/>
              <a:ext cx="1280159" cy="7489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3375" y="12880"/>
              <a:ext cx="1054809" cy="582827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47991" y="27385"/>
            <a:ext cx="1270158" cy="55381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57795" y="185429"/>
            <a:ext cx="994408" cy="39577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4</a:t>
            </a:fld>
            <a:endParaRPr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83F985F-93AF-30E2-9AE6-FA9351DE8C0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071" y="1130627"/>
            <a:ext cx="3154515" cy="4054926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E5E445-1558-2389-C385-4757058F66C8}"/>
              </a:ext>
            </a:extLst>
          </p:cNvPr>
          <p:cNvSpPr/>
          <p:nvPr/>
        </p:nvSpPr>
        <p:spPr>
          <a:xfrm>
            <a:off x="261863" y="1549196"/>
            <a:ext cx="5683597" cy="2965123"/>
          </a:xfrm>
          <a:prstGeom prst="roundRect">
            <a:avLst/>
          </a:prstGeom>
          <a:blipFill>
            <a:blip r:embed="rId11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</a:rPr>
              <a:t>•</a:t>
            </a:r>
            <a:r>
              <a:rPr lang="en-IN" sz="1600" b="1" dirty="0"/>
              <a:t> </a:t>
            </a:r>
            <a:r>
              <a:rPr lang="en-IN" sz="1600" b="1" dirty="0">
                <a:solidFill>
                  <a:schemeClr val="tx1"/>
                </a:solidFill>
              </a:rPr>
              <a:t>COLLECT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Gather air-quality, weather, wind, and factory-location data.</a:t>
            </a:r>
          </a:p>
          <a:p>
            <a:r>
              <a:rPr lang="en-IN" sz="1600" b="1" dirty="0">
                <a:solidFill>
                  <a:schemeClr val="tx1"/>
                </a:solidFill>
              </a:rPr>
              <a:t>• ANALYZE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Detect pollution spikes and analyze wind patterns.</a:t>
            </a:r>
          </a:p>
          <a:p>
            <a:r>
              <a:rPr lang="en-IN" sz="1600" b="1" dirty="0">
                <a:solidFill>
                  <a:schemeClr val="tx1"/>
                </a:solidFill>
              </a:rPr>
              <a:t>• IDENTIFY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Screen nearby factories using distance and wind alignment.</a:t>
            </a:r>
          </a:p>
          <a:p>
            <a:r>
              <a:rPr lang="en-IN" sz="1600" b="1" dirty="0">
                <a:solidFill>
                  <a:schemeClr val="tx1"/>
                </a:solidFill>
              </a:rPr>
              <a:t>• PRIORITIZE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Rank likely sources and assess evidence reliability.</a:t>
            </a:r>
          </a:p>
          <a:p>
            <a:r>
              <a:rPr lang="en-IN" sz="1600" b="1" dirty="0">
                <a:solidFill>
                  <a:schemeClr val="tx1"/>
                </a:solidFill>
              </a:rPr>
              <a:t>• EXPLAIN &amp; REPORT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Present source rankings, evidence, and uncertainty.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50D62F-AC79-D97F-8544-FDD22B799F2B}"/>
              </a:ext>
            </a:extLst>
          </p:cNvPr>
          <p:cNvSpPr txBox="1"/>
          <p:nvPr/>
        </p:nvSpPr>
        <p:spPr>
          <a:xfrm>
            <a:off x="507192" y="4601461"/>
            <a:ext cx="56835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Detect the spike. Trace the source. Explain the evidence.</a:t>
            </a:r>
            <a:endParaRPr lang="en-IN" sz="16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FE6F5E9-A628-CA1F-1703-7A4403D9629B}"/>
              </a:ext>
            </a:extLst>
          </p:cNvPr>
          <p:cNvSpPr/>
          <p:nvPr/>
        </p:nvSpPr>
        <p:spPr>
          <a:xfrm>
            <a:off x="471134" y="4528659"/>
            <a:ext cx="8047511" cy="38492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9052F2-941F-D5B3-F992-95ABBAD9326C}"/>
              </a:ext>
            </a:extLst>
          </p:cNvPr>
          <p:cNvSpPr txBox="1"/>
          <p:nvPr/>
        </p:nvSpPr>
        <p:spPr>
          <a:xfrm>
            <a:off x="470785" y="4528659"/>
            <a:ext cx="7987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→ Preprocess → Detect → Analyse → Screen → Validate → Investigate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7678" y="737099"/>
            <a:ext cx="76327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0715" algn="ctr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Workflow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6149" y="0"/>
            <a:ext cx="3282315" cy="802640"/>
            <a:chOff x="436149" y="0"/>
            <a:chExt cx="3282315" cy="802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149" y="0"/>
              <a:ext cx="1325879" cy="802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185" y="12880"/>
              <a:ext cx="1280159" cy="7489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3375" y="12880"/>
              <a:ext cx="1054809" cy="58282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480464" y="209"/>
            <a:ext cx="2196465" cy="802640"/>
            <a:chOff x="6480464" y="209"/>
            <a:chExt cx="2196465" cy="8026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7387" y="57015"/>
              <a:ext cx="909071" cy="745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80464" y="209"/>
              <a:ext cx="1280160" cy="58366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47991" y="27385"/>
            <a:ext cx="1270158" cy="553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57795" y="185429"/>
            <a:ext cx="994408" cy="39577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5</a:t>
            </a:fld>
            <a:endParaRPr sz="1100"/>
          </a:p>
        </p:txBody>
      </p:sp>
      <p:sp>
        <p:nvSpPr>
          <p:cNvPr id="34" name="Rectangle: Diagonal Corners Rounded 33">
            <a:extLst>
              <a:ext uri="{FF2B5EF4-FFF2-40B4-BE49-F238E27FC236}">
                <a16:creationId xmlns:a16="http://schemas.microsoft.com/office/drawing/2014/main" id="{836D499D-4ECA-E9E9-56C5-BFBCB259FCAB}"/>
              </a:ext>
            </a:extLst>
          </p:cNvPr>
          <p:cNvSpPr/>
          <p:nvPr/>
        </p:nvSpPr>
        <p:spPr>
          <a:xfrm>
            <a:off x="1383375" y="3553212"/>
            <a:ext cx="6223030" cy="809133"/>
          </a:xfrm>
          <a:prstGeom prst="round2Diag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801353-A50D-4F64-3675-4EC3E352FCCF}"/>
              </a:ext>
            </a:extLst>
          </p:cNvPr>
          <p:cNvSpPr txBox="1"/>
          <p:nvPr/>
        </p:nvSpPr>
        <p:spPr>
          <a:xfrm>
            <a:off x="1383375" y="3583962"/>
            <a:ext cx="6202336" cy="738664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KAVACH transforms environmental observations into structured investigation insights by combining air-quality data, weather analysis, geospatial screening and evidence assessment to identify potential industrial pollution sources.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BBAE1A-D8C8-400A-0C25-BE3F0412123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880678"/>
            <a:ext cx="8787602" cy="2935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5436" y="637145"/>
            <a:ext cx="833417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 algn="ctr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Key</a:t>
            </a:r>
            <a:r>
              <a:rPr sz="2400" spc="-85" dirty="0"/>
              <a:t> </a:t>
            </a:r>
            <a:r>
              <a:rPr sz="2400" spc="-10" dirty="0"/>
              <a:t>Features</a:t>
            </a:r>
            <a:r>
              <a:rPr sz="2400" spc="-85" dirty="0"/>
              <a:t> </a:t>
            </a:r>
            <a:r>
              <a:rPr sz="2400" dirty="0"/>
              <a:t>&amp;</a:t>
            </a:r>
            <a:r>
              <a:rPr sz="2400" spc="-85" dirty="0"/>
              <a:t> </a:t>
            </a:r>
            <a:r>
              <a:rPr sz="2400" spc="-10" dirty="0"/>
              <a:t>Innovation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2957" y="-18004"/>
            <a:ext cx="3282315" cy="802640"/>
            <a:chOff x="436149" y="0"/>
            <a:chExt cx="3282315" cy="8026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149" y="0"/>
              <a:ext cx="1325879" cy="802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8185" y="12880"/>
              <a:ext cx="1280159" cy="7489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3375" y="12880"/>
              <a:ext cx="1054809" cy="58282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480464" y="209"/>
            <a:ext cx="2196465" cy="802640"/>
            <a:chOff x="6480464" y="209"/>
            <a:chExt cx="2196465" cy="80264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67387" y="57015"/>
              <a:ext cx="909071" cy="745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80464" y="209"/>
              <a:ext cx="1280160" cy="58366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47991" y="27385"/>
            <a:ext cx="1270158" cy="553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57795" y="185429"/>
            <a:ext cx="994408" cy="39577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6</a:t>
            </a:fld>
            <a:endParaRPr sz="11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C20BCF-FE0E-7FEC-C566-26DBDF751121}"/>
              </a:ext>
            </a:extLst>
          </p:cNvPr>
          <p:cNvSpPr txBox="1"/>
          <p:nvPr/>
        </p:nvSpPr>
        <p:spPr>
          <a:xfrm>
            <a:off x="-22302" y="1157833"/>
            <a:ext cx="55635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Algerian" panose="04020705040A02060702" pitchFamily="82" charset="0"/>
                <a:cs typeface="Times New Roman" panose="02020603050405020304" pitchFamily="18" charset="0"/>
              </a:rPr>
              <a:t>                 </a:t>
            </a:r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KEY FEATURES</a:t>
            </a:r>
          </a:p>
          <a:p>
            <a:r>
              <a:rPr lang="en-IN" sz="1600" b="1" dirty="0"/>
              <a:t>01. Multi-Source Integration</a:t>
            </a:r>
            <a:br>
              <a:rPr lang="en-IN" sz="1600" dirty="0"/>
            </a:br>
            <a:r>
              <a:rPr lang="en-IN" sz="1600" dirty="0"/>
              <a:t>Combines air-quality, weather, wind, and facility data.</a:t>
            </a:r>
          </a:p>
          <a:p>
            <a:r>
              <a:rPr lang="en-IN" sz="1600" b="1" dirty="0"/>
              <a:t>02. Pollution Detection</a:t>
            </a:r>
            <a:br>
              <a:rPr lang="en-IN" sz="1600" dirty="0"/>
            </a:br>
            <a:r>
              <a:rPr lang="en-IN" sz="1600" dirty="0"/>
              <a:t>Identifies unusual pollution spikes.</a:t>
            </a:r>
          </a:p>
          <a:p>
            <a:r>
              <a:rPr lang="en-IN" sz="1600" b="1" dirty="0"/>
              <a:t>03. Wind &amp; Geospatial Analysis</a:t>
            </a:r>
            <a:br>
              <a:rPr lang="en-IN" sz="1600" dirty="0"/>
            </a:br>
            <a:r>
              <a:rPr lang="en-IN" sz="1600" dirty="0"/>
              <a:t>Analyzes wind patterns and facility distances.</a:t>
            </a:r>
          </a:p>
          <a:p>
            <a:r>
              <a:rPr lang="en-IN" sz="1600" b="1" dirty="0"/>
              <a:t>04. Source Ranking</a:t>
            </a:r>
            <a:br>
              <a:rPr lang="en-IN" sz="1600" dirty="0"/>
            </a:br>
            <a:r>
              <a:rPr lang="en-IN" sz="1600" dirty="0"/>
              <a:t>Ranks potential industrial sources using available evidence.</a:t>
            </a:r>
          </a:p>
          <a:p>
            <a:r>
              <a:rPr lang="en-IN" sz="1600" b="1" dirty="0"/>
              <a:t>05. Evidence &amp; Uncertainty</a:t>
            </a:r>
            <a:br>
              <a:rPr lang="en-IN" sz="1600" dirty="0"/>
            </a:br>
            <a:r>
              <a:rPr lang="en-IN" sz="1600" dirty="0"/>
              <a:t>Highlights evidence gaps and data limitations.</a:t>
            </a:r>
          </a:p>
          <a:p>
            <a:r>
              <a:rPr lang="en-IN" sz="1600" b="1" dirty="0"/>
              <a:t>06. Automated Reporting</a:t>
            </a:r>
            <a:br>
              <a:rPr lang="en-IN" sz="1600" dirty="0"/>
            </a:br>
            <a:r>
              <a:rPr lang="en-IN" sz="1600" dirty="0"/>
              <a:t>Generates structured investigation reports.</a:t>
            </a:r>
          </a:p>
          <a:p>
            <a:endParaRPr lang="en-IN" sz="16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74525-6156-A058-99F0-E316A402CB5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042" y="970607"/>
            <a:ext cx="3678143" cy="40861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936" y="699900"/>
            <a:ext cx="833417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510" algn="ctr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Technology</a:t>
            </a:r>
            <a:r>
              <a:rPr spc="-155" dirty="0"/>
              <a:t> </a:t>
            </a:r>
            <a:r>
              <a:rPr spc="-10" dirty="0"/>
              <a:t>Stack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6149" y="0"/>
            <a:ext cx="3282315" cy="802640"/>
            <a:chOff x="436149" y="0"/>
            <a:chExt cx="3282315" cy="802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149" y="0"/>
              <a:ext cx="1325879" cy="802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185" y="12880"/>
              <a:ext cx="1280159" cy="7489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3375" y="12880"/>
              <a:ext cx="1054809" cy="58282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480464" y="209"/>
            <a:ext cx="2196465" cy="802640"/>
            <a:chOff x="6480464" y="209"/>
            <a:chExt cx="2196465" cy="8026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7387" y="57015"/>
              <a:ext cx="909071" cy="745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80464" y="209"/>
              <a:ext cx="1280160" cy="58366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47991" y="27385"/>
            <a:ext cx="1270158" cy="553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57795" y="185429"/>
            <a:ext cx="994408" cy="39577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7</a:t>
            </a:fld>
            <a:endParaRPr sz="11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41AB6C-333A-FC93-9DF3-3B62B9EEAE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1489269"/>
            <a:ext cx="6715640" cy="32160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68BCD9C-7106-9560-46EF-3C8659B9124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786442"/>
            <a:ext cx="3254403" cy="43222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0600" y="652401"/>
            <a:ext cx="729128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145" algn="ctr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Feasibility</a:t>
            </a:r>
            <a:r>
              <a:rPr sz="2800" spc="-110" dirty="0"/>
              <a:t> </a:t>
            </a:r>
            <a:r>
              <a:rPr sz="2800" dirty="0"/>
              <a:t>&amp;</a:t>
            </a:r>
            <a:r>
              <a:rPr sz="2800" spc="-155" dirty="0"/>
              <a:t> </a:t>
            </a:r>
            <a:r>
              <a:rPr sz="2800" spc="-10" dirty="0"/>
              <a:t>Viability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6149" y="0"/>
            <a:ext cx="3282315" cy="802640"/>
            <a:chOff x="436149" y="0"/>
            <a:chExt cx="3282315" cy="8026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149" y="0"/>
              <a:ext cx="1325879" cy="802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8185" y="12880"/>
              <a:ext cx="1280159" cy="7489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3375" y="12880"/>
              <a:ext cx="1054809" cy="58282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480464" y="209"/>
            <a:ext cx="2196465" cy="802640"/>
            <a:chOff x="6480464" y="209"/>
            <a:chExt cx="2196465" cy="80264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67387" y="57015"/>
              <a:ext cx="909071" cy="745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80464" y="209"/>
              <a:ext cx="1280160" cy="58366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47991" y="27385"/>
            <a:ext cx="1270158" cy="553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57795" y="185429"/>
            <a:ext cx="994408" cy="39577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100" spc="-50" dirty="0"/>
              <a:t>8</a:t>
            </a:fld>
            <a:endParaRPr sz="1100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880C54DE-EFEB-213C-9B13-5D3EDBC9D3C6}"/>
              </a:ext>
            </a:extLst>
          </p:cNvPr>
          <p:cNvSpPr/>
          <p:nvPr/>
        </p:nvSpPr>
        <p:spPr>
          <a:xfrm>
            <a:off x="205147" y="1139353"/>
            <a:ext cx="4714926" cy="3920498"/>
          </a:xfrm>
          <a:prstGeom prst="round2DiagRect">
            <a:avLst/>
          </a:prstGeom>
          <a:blipFill>
            <a:blip r:embed="rId10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7425D056-1DF5-7300-EBB3-3B955F206BE5}"/>
              </a:ext>
            </a:extLst>
          </p:cNvPr>
          <p:cNvSpPr/>
          <p:nvPr/>
        </p:nvSpPr>
        <p:spPr>
          <a:xfrm>
            <a:off x="5121865" y="1069478"/>
            <a:ext cx="3873452" cy="3990373"/>
          </a:xfrm>
          <a:prstGeom prst="round2DiagRect">
            <a:avLst/>
          </a:prstGeom>
          <a:blipFill>
            <a:blip r:embed="rId10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387FE3-4BB5-C2AB-77B7-BFF0BFE2A600}"/>
              </a:ext>
            </a:extLst>
          </p:cNvPr>
          <p:cNvSpPr txBox="1"/>
          <p:nvPr/>
        </p:nvSpPr>
        <p:spPr>
          <a:xfrm>
            <a:off x="403222" y="1587331"/>
            <a:ext cx="451685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TECHNICAL FEASIBILITY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Python, FastAPI, Machine Learning and geospatial analysis to investigate potential pollution sources.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DATA AVAILABILITY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use available air-quality observations, weather data and industrial facility locations.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IMPLEMENTATION FEASIBILITY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pollution event detection, wind analysis, candidate source screening and evidence report generation.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SCALABILITY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support different regions when compatible environmental data and facility locations are available.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1C8D16-7EFD-F61A-0FCA-C60586EA1F02}"/>
              </a:ext>
            </a:extLst>
          </p:cNvPr>
          <p:cNvSpPr txBox="1"/>
          <p:nvPr/>
        </p:nvSpPr>
        <p:spPr>
          <a:xfrm>
            <a:off x="1416830" y="1182191"/>
            <a:ext cx="18261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Algerian" panose="04020705040A02060702" pitchFamily="82" charset="0"/>
              </a:rPr>
              <a:t>Feasibility</a:t>
            </a:r>
            <a:endParaRPr lang="en-IN" sz="2200" dirty="0">
              <a:latin typeface="Algerian" panose="04020705040A02060702" pitchFamily="8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1643AD-41C4-0654-DA00-2C89A58AA37C}"/>
              </a:ext>
            </a:extLst>
          </p:cNvPr>
          <p:cNvSpPr txBox="1"/>
          <p:nvPr/>
        </p:nvSpPr>
        <p:spPr>
          <a:xfrm>
            <a:off x="6363766" y="1152806"/>
            <a:ext cx="15135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Algerian" panose="04020705040A02060702" pitchFamily="82" charset="0"/>
              </a:rPr>
              <a:t>Viability</a:t>
            </a:r>
            <a:endParaRPr lang="en-IN" sz="2200" dirty="0">
              <a:latin typeface="Algerian" panose="04020705040A02060702" pitchFamily="8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E4E806-005B-F524-6BC9-CC54B54FC415}"/>
              </a:ext>
            </a:extLst>
          </p:cNvPr>
          <p:cNvSpPr txBox="1"/>
          <p:nvPr/>
        </p:nvSpPr>
        <p:spPr>
          <a:xfrm>
            <a:off x="5176248" y="1566756"/>
            <a:ext cx="375725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COST-EFFECTIVE DEVELOPMENT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open-source technologies such as Python, FastAPI and Scikit-learn to reduce software development costs.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ACCESSIBLE DATA SOURCES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leverage available public environmental datasets, subject to access, licensing and API limitations.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PRACTICAL APPLICATION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environmental analysts prioritize potential pollution sources and organize investigation evidence.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FUTURE EXPANSION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to additional regions as reliable air-quality, weather and industrial facility data become available.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7555" y="637498"/>
            <a:ext cx="7239001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3025">
              <a:lnSpc>
                <a:spcPct val="100000"/>
              </a:lnSpc>
              <a:spcBef>
                <a:spcPts val="100"/>
              </a:spcBef>
            </a:pPr>
            <a:r>
              <a:rPr lang="en-US" sz="3000" spc="-10" dirty="0"/>
              <a:t>        Impact &amp; Benefits</a:t>
            </a:r>
            <a:endParaRPr sz="3000"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36149" y="0"/>
            <a:ext cx="3282315" cy="802640"/>
            <a:chOff x="436149" y="0"/>
            <a:chExt cx="3282315" cy="802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149" y="0"/>
              <a:ext cx="1325879" cy="802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185" y="12880"/>
              <a:ext cx="1280159" cy="7489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3375" y="12880"/>
              <a:ext cx="1054809" cy="58282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480464" y="209"/>
            <a:ext cx="2196465" cy="802640"/>
            <a:chOff x="6480464" y="209"/>
            <a:chExt cx="2196465" cy="8026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7387" y="57015"/>
              <a:ext cx="909071" cy="745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80464" y="209"/>
              <a:ext cx="1280160" cy="58366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47991" y="27385"/>
            <a:ext cx="1270158" cy="553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57795" y="185429"/>
            <a:ext cx="994408" cy="39577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8659755" y="4986054"/>
            <a:ext cx="283407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CEFCCA-E9BE-FAD5-6925-FB7DACD73404}"/>
              </a:ext>
            </a:extLst>
          </p:cNvPr>
          <p:cNvSpPr txBox="1"/>
          <p:nvPr/>
        </p:nvSpPr>
        <p:spPr>
          <a:xfrm>
            <a:off x="457200" y="2265218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0D0712-F136-0A0E-43B1-CD25379CB420}"/>
              </a:ext>
            </a:extLst>
          </p:cNvPr>
          <p:cNvSpPr/>
          <p:nvPr/>
        </p:nvSpPr>
        <p:spPr>
          <a:xfrm>
            <a:off x="152400" y="1128249"/>
            <a:ext cx="3695591" cy="3881901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708C2F-0643-466C-1508-461BBFC6EBA3}"/>
              </a:ext>
            </a:extLst>
          </p:cNvPr>
          <p:cNvSpPr txBox="1"/>
          <p:nvPr/>
        </p:nvSpPr>
        <p:spPr>
          <a:xfrm>
            <a:off x="1329403" y="1165611"/>
            <a:ext cx="11865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Algerian" panose="04020705040A02060702" pitchFamily="82" charset="0"/>
              </a:rPr>
              <a:t>Impact</a:t>
            </a:r>
            <a:endParaRPr lang="en-IN" sz="2200" b="1" dirty="0">
              <a:latin typeface="Algerian" panose="04020705040A02060702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F54AC4-A266-FC96-BF54-D74F690C6790}"/>
              </a:ext>
            </a:extLst>
          </p:cNvPr>
          <p:cNvSpPr txBox="1"/>
          <p:nvPr/>
        </p:nvSpPr>
        <p:spPr>
          <a:xfrm>
            <a:off x="152400" y="1508072"/>
            <a:ext cx="382129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 ENVIRONMENTAL PROTECTION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industrial pollution investigations.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 INFORMED ENVIRONMENTAL ACTION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prioritize pollution investigations.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 PUBLIC HEALTH AWARENESS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awareness of pollution risks.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04. RESPONSIBLE INDUSTRIAL MONITORING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evidence-based source assessment.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05. REGIONAL ENVIRONMENTAL INTELLIGENCE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expansion across different regions.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C8A81DA-5954-DFE8-1A25-529990A612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960" y="425822"/>
            <a:ext cx="5597008" cy="50572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4295" y="638356"/>
            <a:ext cx="543306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References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6149" y="0"/>
            <a:ext cx="3282315" cy="802640"/>
            <a:chOff x="436149" y="0"/>
            <a:chExt cx="3282315" cy="802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149" y="0"/>
              <a:ext cx="1325879" cy="802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185" y="12880"/>
              <a:ext cx="1280159" cy="7489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3375" y="12880"/>
              <a:ext cx="1054809" cy="58282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480464" y="209"/>
            <a:ext cx="2196465" cy="802640"/>
            <a:chOff x="6480464" y="209"/>
            <a:chExt cx="2196465" cy="8026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7387" y="57015"/>
              <a:ext cx="909071" cy="745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80464" y="209"/>
              <a:ext cx="1280160" cy="58366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47991" y="27385"/>
            <a:ext cx="1270158" cy="553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57795" y="185429"/>
            <a:ext cx="994408" cy="39577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FEB94C-010B-09E4-098A-D0E4EE4B118E}"/>
              </a:ext>
            </a:extLst>
          </p:cNvPr>
          <p:cNvSpPr txBox="1"/>
          <p:nvPr/>
        </p:nvSpPr>
        <p:spPr>
          <a:xfrm>
            <a:off x="3546764" y="31380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ADA66F-504C-59A8-4FD8-A7538B68631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02" y="983939"/>
            <a:ext cx="1416276" cy="474488"/>
          </a:xfrm>
          <a:prstGeom prst="rect">
            <a:avLst/>
          </a:prstGeom>
        </p:spPr>
      </p:pic>
      <p:pic>
        <p:nvPicPr>
          <p:cNvPr id="17" name="Picture 16">
            <a:hlinkClick r:id="rId10"/>
            <a:extLst>
              <a:ext uri="{FF2B5EF4-FFF2-40B4-BE49-F238E27FC236}">
                <a16:creationId xmlns:a16="http://schemas.microsoft.com/office/drawing/2014/main" id="{F1D70C96-3650-3EA3-CE01-B633B06AF68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68" y="1128499"/>
            <a:ext cx="1755543" cy="588152"/>
          </a:xfrm>
          <a:prstGeom prst="rect">
            <a:avLst/>
          </a:prstGeom>
        </p:spPr>
      </p:pic>
      <p:pic>
        <p:nvPicPr>
          <p:cNvPr id="20" name="Picture 19">
            <a:hlinkClick r:id="rId12"/>
            <a:extLst>
              <a:ext uri="{FF2B5EF4-FFF2-40B4-BE49-F238E27FC236}">
                <a16:creationId xmlns:a16="http://schemas.microsoft.com/office/drawing/2014/main" id="{29DDC427-3D40-0000-60FC-D51B194964D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995" y="974328"/>
            <a:ext cx="1977137" cy="659046"/>
          </a:xfrm>
          <a:prstGeom prst="rect">
            <a:avLst/>
          </a:prstGeom>
        </p:spPr>
      </p:pic>
      <p:pic>
        <p:nvPicPr>
          <p:cNvPr id="28" name="Picture 27">
            <a:hlinkClick r:id="rId14"/>
            <a:extLst>
              <a:ext uri="{FF2B5EF4-FFF2-40B4-BE49-F238E27FC236}">
                <a16:creationId xmlns:a16="http://schemas.microsoft.com/office/drawing/2014/main" id="{3AA3D462-3B00-11B4-4CA3-3C71A14AC088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693" y="1005221"/>
            <a:ext cx="1660311" cy="65904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C749900-F4A6-6D0C-308A-3ED654660FBA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694" y="740123"/>
            <a:ext cx="1977138" cy="761098"/>
          </a:xfrm>
          <a:prstGeom prst="rect">
            <a:avLst/>
          </a:prstGeom>
        </p:spPr>
      </p:pic>
      <p:pic>
        <p:nvPicPr>
          <p:cNvPr id="36" name="Picture 35">
            <a:hlinkClick r:id="rId17"/>
            <a:extLst>
              <a:ext uri="{FF2B5EF4-FFF2-40B4-BE49-F238E27FC236}">
                <a16:creationId xmlns:a16="http://schemas.microsoft.com/office/drawing/2014/main" id="{3359986A-BD92-1C87-F9C4-53D45B962FC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150" y="1325306"/>
            <a:ext cx="1764084" cy="773359"/>
          </a:xfrm>
          <a:prstGeom prst="rect">
            <a:avLst/>
          </a:prstGeom>
        </p:spPr>
      </p:pic>
      <p:pic>
        <p:nvPicPr>
          <p:cNvPr id="38" name="Picture 37">
            <a:hlinkClick r:id="rId19"/>
            <a:extLst>
              <a:ext uri="{FF2B5EF4-FFF2-40B4-BE49-F238E27FC236}">
                <a16:creationId xmlns:a16="http://schemas.microsoft.com/office/drawing/2014/main" id="{943B7242-8EF0-4384-9DE2-DD37E1C10507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01" y="1401286"/>
            <a:ext cx="1674161" cy="659046"/>
          </a:xfrm>
          <a:prstGeom prst="rect">
            <a:avLst/>
          </a:prstGeom>
        </p:spPr>
      </p:pic>
      <p:pic>
        <p:nvPicPr>
          <p:cNvPr id="40" name="Picture 39">
            <a:hlinkClick r:id="rId21"/>
            <a:extLst>
              <a:ext uri="{FF2B5EF4-FFF2-40B4-BE49-F238E27FC236}">
                <a16:creationId xmlns:a16="http://schemas.microsoft.com/office/drawing/2014/main" id="{1697BD5B-F733-981A-03A8-C6149A255FCD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193" y="1254349"/>
            <a:ext cx="1573810" cy="773359"/>
          </a:xfrm>
          <a:prstGeom prst="rect">
            <a:avLst/>
          </a:prstGeom>
        </p:spPr>
      </p:pic>
      <p:pic>
        <p:nvPicPr>
          <p:cNvPr id="44" name="Picture 43">
            <a:hlinkClick r:id="rId23"/>
            <a:extLst>
              <a:ext uri="{FF2B5EF4-FFF2-40B4-BE49-F238E27FC236}">
                <a16:creationId xmlns:a16="http://schemas.microsoft.com/office/drawing/2014/main" id="{E3BA491E-2B91-E1CD-AA9E-7A20CD193D57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939" y="983939"/>
            <a:ext cx="1472086" cy="588686"/>
          </a:xfrm>
          <a:prstGeom prst="rect">
            <a:avLst/>
          </a:prstGeom>
        </p:spPr>
      </p:pic>
      <p:pic>
        <p:nvPicPr>
          <p:cNvPr id="46" name="Picture 45">
            <a:hlinkClick r:id="rId25"/>
            <a:extLst>
              <a:ext uri="{FF2B5EF4-FFF2-40B4-BE49-F238E27FC236}">
                <a16:creationId xmlns:a16="http://schemas.microsoft.com/office/drawing/2014/main" id="{0EFC83F6-545B-C39F-E77F-D9F49F8A6AEF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64" y="1436407"/>
            <a:ext cx="1871775" cy="6239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9FA704-F8B3-3CF6-584A-A60E76ACADB7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0" y="1929112"/>
            <a:ext cx="3647217" cy="21584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322157-6F2A-C1AB-BD28-DAA522B70085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999" y="1879332"/>
            <a:ext cx="3200029" cy="219123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5726BBF-12BF-E027-AF84-9AE6891852B7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247" y="2914932"/>
            <a:ext cx="3048000" cy="21663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1164</TotalTime>
  <Words>607</Words>
  <Application>Microsoft Office PowerPoint</Application>
  <PresentationFormat>On-screen Show (16:9)</PresentationFormat>
  <Paragraphs>96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Arial</vt:lpstr>
      <vt:lpstr>Calibri</vt:lpstr>
      <vt:lpstr>Cambria</vt:lpstr>
      <vt:lpstr>Palatino Linotype</vt:lpstr>
      <vt:lpstr>Times New Roman</vt:lpstr>
      <vt:lpstr>Office Theme</vt:lpstr>
      <vt:lpstr>PowerPoint Presentation</vt:lpstr>
      <vt:lpstr>Team Profile TRACK / PROBLEM STATEMENT</vt:lpstr>
      <vt:lpstr>Problem Statement - Air-quality sensors detect pollution, but identifying the industrial sources responsible is difficult because pollution movement depends on wind, weather, location and time.</vt:lpstr>
      <vt:lpstr>Solution Approach – AIR KAVACH - From Pollution Detection to Explainable Source Attribution </vt:lpstr>
      <vt:lpstr>Workflow</vt:lpstr>
      <vt:lpstr>Key Features &amp; Innovation</vt:lpstr>
      <vt:lpstr>Technology Stack</vt:lpstr>
      <vt:lpstr>Feasibility &amp; Viability</vt:lpstr>
      <vt:lpstr>        Impact &amp; Benefits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Ayush Singh</dc:creator>
  <cp:lastModifiedBy>Lalita Jhapate</cp:lastModifiedBy>
  <cp:revision>30</cp:revision>
  <dcterms:created xsi:type="dcterms:W3CDTF">2026-09-22T07:52:41Z</dcterms:created>
  <dcterms:modified xsi:type="dcterms:W3CDTF">2026-10-10T02:21:07Z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2026-09-22T00:00:00Z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2026-09-22T00:00:00Z</vt:filetime>
  </property>
</Properties>
</file>